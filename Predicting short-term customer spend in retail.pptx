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5" d="100"/>
          <a:sy n="85" d="100"/>
        </p:scale>
        <p:origin x="76" y="4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2/4/2026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78955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2/4/2026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76855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2/4/2026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00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2/4/2026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1717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2/4/2026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76759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2/4/2026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32732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2/4/2026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8605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2/4/2026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83391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2/4/2026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80566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2/4/2026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57778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2/4/2026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240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2/4/2026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7878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A web of dots connected">
            <a:extLst>
              <a:ext uri="{FF2B5EF4-FFF2-40B4-BE49-F238E27FC236}">
                <a16:creationId xmlns:a16="http://schemas.microsoft.com/office/drawing/2014/main" id="{9C29FD05-A8EF-CE12-39A5-996DE90E6273}"/>
              </a:ext>
            </a:extLst>
          </p:cNvPr>
          <p:cNvPicPr>
            <a:picLocks noChangeAspect="1"/>
          </p:cNvPicPr>
          <p:nvPr/>
        </p:nvPicPr>
        <p:blipFill>
          <a:blip r:embed="rId2"/>
          <a:srcRect l="2589" t="6278" r="22850" b="-1"/>
          <a:stretch>
            <a:fillRect/>
          </a:stretch>
        </p:blipFill>
        <p:spPr>
          <a:xfrm>
            <a:off x="-2" y="-2"/>
            <a:ext cx="12191999" cy="6857999"/>
          </a:xfrm>
          <a:prstGeom prst="rect">
            <a:avLst/>
          </a:prstGeom>
        </p:spPr>
      </p:pic>
      <p:sp>
        <p:nvSpPr>
          <p:cNvPr id="37" name="Rectangle 36">
            <a:extLst>
              <a:ext uri="{FF2B5EF4-FFF2-40B4-BE49-F238E27FC236}">
                <a16:creationId xmlns:a16="http://schemas.microsoft.com/office/drawing/2014/main" id="{72E284DE-AB43-1296-3166-892F44A3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7204F5F-4338-E042-3183-D8585B1285A0}"/>
              </a:ext>
            </a:extLst>
          </p:cNvPr>
          <p:cNvSpPr>
            <a:spLocks noGrp="1"/>
          </p:cNvSpPr>
          <p:nvPr>
            <p:ph type="ctrTitle"/>
          </p:nvPr>
        </p:nvSpPr>
        <p:spPr>
          <a:xfrm>
            <a:off x="457195" y="701964"/>
            <a:ext cx="5370950" cy="3640303"/>
          </a:xfrm>
        </p:spPr>
        <p:txBody>
          <a:bodyPr anchor="t">
            <a:normAutofit/>
          </a:bodyPr>
          <a:lstStyle/>
          <a:p>
            <a:pPr>
              <a:lnSpc>
                <a:spcPct val="90000"/>
              </a:lnSpc>
            </a:pPr>
            <a:r>
              <a:rPr lang="en-US" sz="6000">
                <a:solidFill>
                  <a:srgbClr val="FFFFFF"/>
                </a:solidFill>
              </a:rPr>
              <a:t>Predicting short-term customer spend in retail</a:t>
            </a:r>
            <a:endParaRPr lang="en-IN" sz="6000">
              <a:solidFill>
                <a:srgbClr val="FFFFFF"/>
              </a:solidFill>
            </a:endParaRPr>
          </a:p>
        </p:txBody>
      </p:sp>
      <p:sp>
        <p:nvSpPr>
          <p:cNvPr id="3" name="Subtitle 2">
            <a:extLst>
              <a:ext uri="{FF2B5EF4-FFF2-40B4-BE49-F238E27FC236}">
                <a16:creationId xmlns:a16="http://schemas.microsoft.com/office/drawing/2014/main" id="{B3457B83-784A-65B1-03F9-6448CBD614C9}"/>
              </a:ext>
            </a:extLst>
          </p:cNvPr>
          <p:cNvSpPr>
            <a:spLocks noGrp="1"/>
          </p:cNvSpPr>
          <p:nvPr>
            <p:ph type="subTitle" idx="1"/>
          </p:nvPr>
        </p:nvSpPr>
        <p:spPr>
          <a:xfrm>
            <a:off x="457195" y="4475890"/>
            <a:ext cx="5033300" cy="2248484"/>
          </a:xfrm>
        </p:spPr>
        <p:txBody>
          <a:bodyPr anchor="t">
            <a:normAutofit lnSpcReduction="10000"/>
          </a:bodyPr>
          <a:lstStyle/>
          <a:p>
            <a:r>
              <a:rPr lang="en-US" dirty="0">
                <a:solidFill>
                  <a:srgbClr val="FFFFFF"/>
                </a:solidFill>
              </a:rPr>
              <a:t>Team HCL Employees</a:t>
            </a:r>
          </a:p>
          <a:p>
            <a:pPr marL="457200" indent="-457200">
              <a:buAutoNum type="arabicPeriod"/>
            </a:pPr>
            <a:r>
              <a:rPr lang="en-US" sz="1700" dirty="0">
                <a:solidFill>
                  <a:srgbClr val="FFFFFF"/>
                </a:solidFill>
              </a:rPr>
              <a:t>Ananya – 103122009</a:t>
            </a:r>
          </a:p>
          <a:p>
            <a:pPr marL="457200" indent="-457200">
              <a:buAutoNum type="arabicPeriod"/>
            </a:pPr>
            <a:r>
              <a:rPr lang="en-US" sz="1700" dirty="0">
                <a:solidFill>
                  <a:srgbClr val="FFFFFF"/>
                </a:solidFill>
              </a:rPr>
              <a:t>Barathi – 102122017</a:t>
            </a:r>
          </a:p>
          <a:p>
            <a:pPr marL="457200" indent="-457200">
              <a:buAutoNum type="arabicPeriod"/>
            </a:pPr>
            <a:r>
              <a:rPr lang="en-US" sz="1700" dirty="0">
                <a:solidFill>
                  <a:srgbClr val="FFFFFF"/>
                </a:solidFill>
              </a:rPr>
              <a:t>Hemanth – 102122034</a:t>
            </a:r>
          </a:p>
          <a:p>
            <a:pPr marL="457200" indent="-457200">
              <a:buAutoNum type="arabicPeriod"/>
            </a:pPr>
            <a:r>
              <a:rPr lang="en-US" sz="1700" dirty="0">
                <a:solidFill>
                  <a:srgbClr val="FFFFFF"/>
                </a:solidFill>
              </a:rPr>
              <a:t>Pranauv - 111122086</a:t>
            </a:r>
          </a:p>
          <a:p>
            <a:pPr marL="457200" indent="-457200">
              <a:buAutoNum type="arabicPeriod"/>
            </a:pPr>
            <a:endParaRPr lang="en-US" sz="1200" dirty="0">
              <a:solidFill>
                <a:srgbClr val="FFFFFF"/>
              </a:solidFill>
            </a:endParaRPr>
          </a:p>
          <a:p>
            <a:pPr marL="457200" indent="-457200">
              <a:buAutoNum type="arabicPeriod"/>
            </a:pPr>
            <a:endParaRPr lang="en-IN" sz="2000" dirty="0">
              <a:solidFill>
                <a:srgbClr val="FFFFFF"/>
              </a:solidFill>
            </a:endParaRPr>
          </a:p>
        </p:txBody>
      </p:sp>
      <p:cxnSp>
        <p:nvCxnSpPr>
          <p:cNvPr id="39" name="Straight Connector 38">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03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39260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DD5456-1423-9F8D-771B-54EB81A3B197}"/>
              </a:ext>
            </a:extLst>
          </p:cNvPr>
          <p:cNvSpPr>
            <a:spLocks noGrp="1"/>
          </p:cNvSpPr>
          <p:nvPr>
            <p:ph type="title"/>
          </p:nvPr>
        </p:nvSpPr>
        <p:spPr>
          <a:xfrm>
            <a:off x="640080" y="1371600"/>
            <a:ext cx="5852160" cy="1097280"/>
          </a:xfrm>
        </p:spPr>
        <p:txBody>
          <a:bodyPr anchor="t">
            <a:normAutofit/>
          </a:bodyPr>
          <a:lstStyle/>
          <a:p>
            <a:r>
              <a:rPr lang="en-US" dirty="0"/>
              <a:t>Problem overview</a:t>
            </a:r>
            <a:endParaRPr lang="en-IN"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5978C7F-CA9A-8DE0-B7C3-1FA60FF7E8B5}"/>
              </a:ext>
            </a:extLst>
          </p:cNvPr>
          <p:cNvSpPr>
            <a:spLocks noGrp="1"/>
          </p:cNvSpPr>
          <p:nvPr>
            <p:ph idx="1"/>
          </p:nvPr>
        </p:nvSpPr>
        <p:spPr>
          <a:xfrm>
            <a:off x="640080" y="2633236"/>
            <a:ext cx="5852160" cy="3664685"/>
          </a:xfrm>
        </p:spPr>
        <p:txBody>
          <a:bodyPr>
            <a:normAutofit/>
          </a:bodyPr>
          <a:lstStyle/>
          <a:p>
            <a:pPr>
              <a:lnSpc>
                <a:spcPct val="110000"/>
              </a:lnSpc>
            </a:pPr>
            <a:r>
              <a:rPr lang="en-US" sz="1600" dirty="0"/>
              <a:t>For each active customer, we are to estimate the total monetary amount the customer spends in the next 30 days (after the cutoff dates) based on his/her previous purchases. </a:t>
            </a:r>
          </a:p>
          <a:p>
            <a:pPr>
              <a:lnSpc>
                <a:spcPct val="110000"/>
              </a:lnSpc>
            </a:pPr>
            <a:r>
              <a:rPr lang="en-US" sz="1600" dirty="0"/>
              <a:t>The features such as historical transaction behavior, category preferences etc. were taken into consideration before preparing a prediction model.</a:t>
            </a:r>
          </a:p>
          <a:p>
            <a:pPr>
              <a:lnSpc>
                <a:spcPct val="110000"/>
              </a:lnSpc>
            </a:pPr>
            <a:r>
              <a:rPr lang="en-US" sz="1600" dirty="0"/>
              <a:t>The SQL approach and the traditional python approach was made to find the prediction amount of the customer.</a:t>
            </a:r>
          </a:p>
          <a:p>
            <a:pPr>
              <a:lnSpc>
                <a:spcPct val="110000"/>
              </a:lnSpc>
            </a:pPr>
            <a:r>
              <a:rPr lang="en-US" sz="1600" dirty="0"/>
              <a:t>Appropriate regression metrics like Root Mean Squared Error (RMSE), Mean Absolute Error (MAE),R^2 were used in this prediction model  </a:t>
            </a:r>
            <a:endParaRPr lang="en-IN" sz="1600" dirty="0"/>
          </a:p>
        </p:txBody>
      </p:sp>
      <p:pic>
        <p:nvPicPr>
          <p:cNvPr id="5" name="Picture 4" descr="Calculator, pen, compass, money and a paper with graphs printed on it">
            <a:extLst>
              <a:ext uri="{FF2B5EF4-FFF2-40B4-BE49-F238E27FC236}">
                <a16:creationId xmlns:a16="http://schemas.microsoft.com/office/drawing/2014/main" id="{8780AEFE-58F5-227B-B84F-46E54E676731}"/>
              </a:ext>
            </a:extLst>
          </p:cNvPr>
          <p:cNvPicPr>
            <a:picLocks noChangeAspect="1"/>
          </p:cNvPicPr>
          <p:nvPr/>
        </p:nvPicPr>
        <p:blipFill>
          <a:blip r:embed="rId2"/>
          <a:srcRect l="30823" r="2660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273284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A5E59C-A72B-88AA-122B-75E442BAA24B}"/>
              </a:ext>
            </a:extLst>
          </p:cNvPr>
          <p:cNvSpPr>
            <a:spLocks noGrp="1"/>
          </p:cNvSpPr>
          <p:nvPr>
            <p:ph type="title"/>
          </p:nvPr>
        </p:nvSpPr>
        <p:spPr>
          <a:xfrm>
            <a:off x="5496821" y="1371600"/>
            <a:ext cx="6034187" cy="1097280"/>
          </a:xfrm>
        </p:spPr>
        <p:txBody>
          <a:bodyPr>
            <a:normAutofit/>
          </a:bodyPr>
          <a:lstStyle/>
          <a:p>
            <a:r>
              <a:rPr lang="en-US" dirty="0"/>
              <a:t>Data &amp; Target</a:t>
            </a:r>
            <a:endParaRPr lang="en-IN" dirty="0"/>
          </a:p>
        </p:txBody>
      </p:sp>
      <p:pic>
        <p:nvPicPr>
          <p:cNvPr id="5" name="Picture 4" descr="Digital graphs and numbers in 3D">
            <a:extLst>
              <a:ext uri="{FF2B5EF4-FFF2-40B4-BE49-F238E27FC236}">
                <a16:creationId xmlns:a16="http://schemas.microsoft.com/office/drawing/2014/main" id="{5F38AA98-84B3-3289-99A1-CDDEA20FCFF1}"/>
              </a:ext>
            </a:extLst>
          </p:cNvPr>
          <p:cNvPicPr>
            <a:picLocks noChangeAspect="1"/>
          </p:cNvPicPr>
          <p:nvPr/>
        </p:nvPicPr>
        <p:blipFill>
          <a:blip r:embed="rId2"/>
          <a:srcRect l="30878" r="21838"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3206E20-2FBA-E70C-3E95-184ADBEFBAD9}"/>
              </a:ext>
            </a:extLst>
          </p:cNvPr>
          <p:cNvSpPr>
            <a:spLocks noGrp="1"/>
          </p:cNvSpPr>
          <p:nvPr>
            <p:ph idx="1"/>
          </p:nvPr>
        </p:nvSpPr>
        <p:spPr>
          <a:xfrm>
            <a:off x="5496821" y="2633236"/>
            <a:ext cx="6034187" cy="4224764"/>
          </a:xfrm>
        </p:spPr>
        <p:txBody>
          <a:bodyPr>
            <a:normAutofit/>
          </a:bodyPr>
          <a:lstStyle/>
          <a:p>
            <a:pPr>
              <a:lnSpc>
                <a:spcPct val="110000"/>
              </a:lnSpc>
            </a:pPr>
            <a:r>
              <a:rPr lang="en-US" sz="1600" dirty="0"/>
              <a:t>We had obtained a dataset from public sources which was about the sales on online retail stores. Our objective was to find the short-term CLV (Customer Lifetime Value) over a defined horizon.</a:t>
            </a:r>
          </a:p>
          <a:p>
            <a:pPr>
              <a:lnSpc>
                <a:spcPct val="110000"/>
              </a:lnSpc>
            </a:pPr>
            <a:r>
              <a:rPr lang="en-US" sz="1600" dirty="0"/>
              <a:t>The data includes a transaction-level data. Also, each customer has multiple transactions over time and each of them has an individual timestamp of the purchase. Also it has enough information to compute the monetary value. The customers range all the way from Australia, UK to France, Germany.</a:t>
            </a:r>
          </a:p>
          <a:p>
            <a:pPr>
              <a:lnSpc>
                <a:spcPct val="110000"/>
              </a:lnSpc>
            </a:pPr>
            <a:r>
              <a:rPr lang="en-US" sz="1600" dirty="0"/>
              <a:t>Dataset contains more that 15000 transactions and is done on various fields. With all these, we were able to clean off the data and segregated them into bad records and clean records and regression models were applied based on the same. </a:t>
            </a:r>
            <a:endParaRPr lang="en-IN" sz="1600" dirty="0"/>
          </a:p>
        </p:txBody>
      </p:sp>
    </p:spTree>
    <p:extLst>
      <p:ext uri="{BB962C8B-B14F-4D97-AF65-F5344CB8AC3E}">
        <p14:creationId xmlns:p14="http://schemas.microsoft.com/office/powerpoint/2010/main" val="95658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31B19E-E909-52B8-EB13-24DFBAC5D4FD}"/>
              </a:ext>
            </a:extLst>
          </p:cNvPr>
          <p:cNvSpPr>
            <a:spLocks noGrp="1"/>
          </p:cNvSpPr>
          <p:nvPr>
            <p:ph type="title"/>
          </p:nvPr>
        </p:nvSpPr>
        <p:spPr>
          <a:xfrm>
            <a:off x="640080" y="1371600"/>
            <a:ext cx="5737859" cy="1097280"/>
          </a:xfrm>
        </p:spPr>
        <p:txBody>
          <a:bodyPr>
            <a:normAutofit/>
          </a:bodyPr>
          <a:lstStyle/>
          <a:p>
            <a:r>
              <a:rPr lang="en-US" dirty="0"/>
              <a:t>Features and Modelling</a:t>
            </a:r>
            <a:endParaRPr lang="en-IN" dirty="0"/>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07C15A5-A860-F50C-3638-638A2A07ED4D}"/>
              </a:ext>
            </a:extLst>
          </p:cNvPr>
          <p:cNvSpPr>
            <a:spLocks noGrp="1"/>
          </p:cNvSpPr>
          <p:nvPr>
            <p:ph idx="1"/>
          </p:nvPr>
        </p:nvSpPr>
        <p:spPr>
          <a:xfrm>
            <a:off x="640079" y="2633236"/>
            <a:ext cx="6157959" cy="3535216"/>
          </a:xfrm>
        </p:spPr>
        <p:txBody>
          <a:bodyPr>
            <a:normAutofit lnSpcReduction="10000"/>
          </a:bodyPr>
          <a:lstStyle/>
          <a:p>
            <a:pPr>
              <a:lnSpc>
                <a:spcPct val="110000"/>
              </a:lnSpc>
            </a:pPr>
            <a:r>
              <a:rPr lang="en-US" sz="1600" dirty="0"/>
              <a:t>We were able to notice that customer spend doesn’t increase linearly with Recency, Frequency, and Monetary. Random Forest learns </a:t>
            </a:r>
            <a:r>
              <a:rPr lang="en-US" sz="1600" b="1" dirty="0"/>
              <a:t>non-linear relationships. Also it captures</a:t>
            </a:r>
            <a:r>
              <a:rPr lang="en-US" sz="1600" dirty="0"/>
              <a:t> </a:t>
            </a:r>
            <a:r>
              <a:rPr lang="en-US" sz="1600" b="1" dirty="0"/>
              <a:t>interactions</a:t>
            </a:r>
            <a:r>
              <a:rPr lang="en-US" sz="1600" dirty="0"/>
              <a:t> (e.g., high Frequency + low Recency = high future spend).</a:t>
            </a:r>
          </a:p>
          <a:p>
            <a:pPr>
              <a:lnSpc>
                <a:spcPct val="110000"/>
              </a:lnSpc>
            </a:pPr>
            <a:r>
              <a:rPr lang="en-US" sz="1600" dirty="0"/>
              <a:t>Random Forest is robust to noisy retail data and high-spending outliers, making it suitable for real-world customer spend prediction.</a:t>
            </a:r>
          </a:p>
          <a:p>
            <a:pPr>
              <a:lnSpc>
                <a:spcPct val="110000"/>
              </a:lnSpc>
            </a:pPr>
            <a:r>
              <a:rPr lang="en-US" sz="1600" dirty="0"/>
              <a:t>Random Forest offers a strong trade-off between predictive performance, robustness to noise, and implementation simplicity for short-term retail spend prediction.</a:t>
            </a:r>
          </a:p>
          <a:p>
            <a:pPr>
              <a:lnSpc>
                <a:spcPct val="110000"/>
              </a:lnSpc>
            </a:pPr>
            <a:r>
              <a:rPr lang="en-US" sz="1600" dirty="0"/>
              <a:t>Based on our usage, we were able to get scores of 0.3 R^2, 1071 RMSE and 350 MAE</a:t>
            </a:r>
            <a:r>
              <a:rPr lang="en-US" sz="1400" dirty="0"/>
              <a:t>.</a:t>
            </a:r>
          </a:p>
          <a:p>
            <a:pPr>
              <a:lnSpc>
                <a:spcPct val="110000"/>
              </a:lnSpc>
            </a:pPr>
            <a:endParaRPr lang="en-US" sz="1400" dirty="0"/>
          </a:p>
          <a:p>
            <a:pPr>
              <a:lnSpc>
                <a:spcPct val="110000"/>
              </a:lnSpc>
            </a:pPr>
            <a:endParaRPr lang="en-IN" sz="1400" dirty="0"/>
          </a:p>
        </p:txBody>
      </p:sp>
      <p:pic>
        <p:nvPicPr>
          <p:cNvPr id="7" name="Graphic 6" descr="Bar Graph with Upward Trend">
            <a:extLst>
              <a:ext uri="{FF2B5EF4-FFF2-40B4-BE49-F238E27FC236}">
                <a16:creationId xmlns:a16="http://schemas.microsoft.com/office/drawing/2014/main" id="{B8599DE8-13D3-B3E7-4126-D4CD46C994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850269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406FE-B0ED-8690-D3FC-295529CB8BE4}"/>
              </a:ext>
            </a:extLst>
          </p:cNvPr>
          <p:cNvSpPr>
            <a:spLocks noGrp="1"/>
          </p:cNvSpPr>
          <p:nvPr>
            <p:ph type="title"/>
          </p:nvPr>
        </p:nvSpPr>
        <p:spPr>
          <a:xfrm>
            <a:off x="640080" y="1371600"/>
            <a:ext cx="5852160" cy="1097280"/>
          </a:xfrm>
        </p:spPr>
        <p:txBody>
          <a:bodyPr anchor="t">
            <a:normAutofit/>
          </a:bodyPr>
          <a:lstStyle/>
          <a:p>
            <a:r>
              <a:rPr lang="en-US" dirty="0"/>
              <a:t>Reflections</a:t>
            </a:r>
            <a:endParaRPr lang="en-IN"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A92D9D5-C59F-7EF6-8DC5-14BF9D53D7B1}"/>
              </a:ext>
            </a:extLst>
          </p:cNvPr>
          <p:cNvSpPr>
            <a:spLocks noGrp="1"/>
          </p:cNvSpPr>
          <p:nvPr>
            <p:ph idx="1"/>
          </p:nvPr>
        </p:nvSpPr>
        <p:spPr>
          <a:xfrm>
            <a:off x="640080" y="2633236"/>
            <a:ext cx="5852160" cy="3664685"/>
          </a:xfrm>
        </p:spPr>
        <p:txBody>
          <a:bodyPr>
            <a:normAutofit/>
          </a:bodyPr>
          <a:lstStyle/>
          <a:p>
            <a:pPr>
              <a:lnSpc>
                <a:spcPct val="110000"/>
              </a:lnSpc>
            </a:pPr>
            <a:r>
              <a:rPr lang="en-US" sz="1700" dirty="0"/>
              <a:t>From this hackathon, we were able to predict the short-term customer spend and also were able to use both SQL and Python methods while find the prediction number. Also we got an excellent opportunity to work as a team and were fortunately able to get to the objective within the stipulated time. </a:t>
            </a:r>
          </a:p>
          <a:p>
            <a:pPr>
              <a:lnSpc>
                <a:spcPct val="110000"/>
              </a:lnSpc>
            </a:pPr>
            <a:r>
              <a:rPr lang="en-US" sz="1700" dirty="0"/>
              <a:t>The problem statement got us to think a lot and got the best versions of ourselves to the fore. </a:t>
            </a:r>
          </a:p>
          <a:p>
            <a:pPr>
              <a:lnSpc>
                <a:spcPct val="110000"/>
              </a:lnSpc>
            </a:pPr>
            <a:r>
              <a:rPr lang="en-US" sz="1700" dirty="0"/>
              <a:t>We believe that the learnings from here would get us to better future and would go on to be an unforgettable experience for all involved.</a:t>
            </a:r>
            <a:endParaRPr lang="en-IN" sz="1700" dirty="0"/>
          </a:p>
        </p:txBody>
      </p:sp>
      <p:pic>
        <p:nvPicPr>
          <p:cNvPr id="5" name="Picture 4" descr="Magnifying glass showing decling performance">
            <a:extLst>
              <a:ext uri="{FF2B5EF4-FFF2-40B4-BE49-F238E27FC236}">
                <a16:creationId xmlns:a16="http://schemas.microsoft.com/office/drawing/2014/main" id="{16579D15-0AAD-0617-1AFC-259299534BF4}"/>
              </a:ext>
            </a:extLst>
          </p:cNvPr>
          <p:cNvPicPr>
            <a:picLocks noChangeAspect="1"/>
          </p:cNvPicPr>
          <p:nvPr/>
        </p:nvPicPr>
        <p:blipFill>
          <a:blip r:embed="rId2"/>
          <a:srcRect l="19855" r="32975"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41739548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93</TotalTime>
  <Words>478</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Grandview Display</vt:lpstr>
      <vt:lpstr>Neue Haas Grotesk Text Pro</vt:lpstr>
      <vt:lpstr>DashVTI</vt:lpstr>
      <vt:lpstr>Predicting short-term customer spend in retail</vt:lpstr>
      <vt:lpstr>Problem overview</vt:lpstr>
      <vt:lpstr>Data &amp; Target</vt:lpstr>
      <vt:lpstr>Features and Modelling</vt:lpstr>
      <vt:lpstr>Reflections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Pranauv Kumar</dc:creator>
  <cp:lastModifiedBy>Pranauv Kumar</cp:lastModifiedBy>
  <cp:revision>2</cp:revision>
  <dcterms:created xsi:type="dcterms:W3CDTF">2026-02-04T12:12:08Z</dcterms:created>
  <dcterms:modified xsi:type="dcterms:W3CDTF">2026-02-04T13:45:42Z</dcterms:modified>
</cp:coreProperties>
</file>